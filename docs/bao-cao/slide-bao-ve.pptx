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62626"/>
                </a:solidFill>
                <a:latin typeface="Calibri"/>
              </a:rPr>
              <a:t>Ứng dụng Vision-Language Model trong Kiểm thử Tự động</a:t>
            </a:r>
          </a:p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62626"/>
                </a:solidFill>
                <a:latin typeface="Calibri"/>
              </a:rPr>
              <a:t>Giao diện Người dùng Phần mềm</a:t>
            </a:r>
          </a:p>
          <a:p>
            <a:pPr algn="ctr">
              <a:spcAft>
                <a:spcPts val="2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Khóa luận tốt nghiệp — UIT, ĐHQG TP.HCM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Sinh viên: [Họ tên — MSSV]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GVHD: [Họ tên GVHD]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[Ngày bảo vệ, 2026]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Vấn đề: test GUI dựa trên locator rất giòn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5577840" cy="137160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95959"/>
                </a:solidFill>
                <a:latin typeface="Consolas"/>
              </a:rPr>
              <a:t>// Nút xóa = icon thứ 3 trong ô thứ 8 của hàng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Consolas"/>
              </a:rPr>
              <a:t>.product-table tbody tr:nth-child(1)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00000"/>
                </a:solidFill>
                <a:latin typeface="Consolas"/>
              </a:rPr>
              <a:t>  td:nth-child(8) .icon-btn:nth-child(3)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80360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Locator gắn chặt vào cấu trúc DOM và nhãn văn bản.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Giao diện đổi cách trình bày (đảo cột, đổi nhãn nút) — chức năng không đổi — nhưng test gãy hàng loạt.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00000"/>
                </a:solidFill>
                <a:latin typeface="Calibri"/>
              </a:rPr>
              <a:t>→ Chi phí bảo trì test là gánh nặng thường trực; nặng nhất ở thành phần không có nhãn ngữ nghĩa (icon SVG, canvas, div thuần).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3017520" cy="23079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6404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V0 (gốc): cột Actions ở vị trí thứ 8…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069080"/>
            <a:ext cx="3017520" cy="24470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64040" y="49377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00000"/>
                </a:solidFill>
                <a:latin typeface="Calibri"/>
              </a:rPr>
              <a:t>…V2: Actions nhảy lên cột 1 → selector trỏ sai 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Hướng mới: VLM “nhìn” giao diện, test viết bằng ngôn ngữ tự nhiên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Cùng một kịch bản A3 (thêm sản phẩm) trong hai bộ test đối xứng 1–1: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5486400" cy="237744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Consolas"/>
              </a:rPr>
              <a:t>// Locator-based (Playwright)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page.click("xpath=//button[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C00000"/>
                </a:solidFill>
                <a:latin typeface="Consolas"/>
              </a:rPr>
              <a:t>  text()='Add product']")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modal.locator('label:nth-of-type(1)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  input').fill('Energy Drink 250ml')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expect(locator('.product-table tbody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  tr')).toHaveCount(13)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783080"/>
            <a:ext cx="5486400" cy="237744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Consolas"/>
              </a:rPr>
              <a:t>// VLM-based (Midscene.js + Qwen3-VL)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38A35"/>
                </a:solidFill>
                <a:latin typeface="Consolas"/>
              </a:rPr>
              <a:t>aiTap('the primary button in the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38A35"/>
                </a:solidFill>
                <a:latin typeface="Consolas"/>
              </a:rPr>
              <a:t>  toolbar that adds a new product')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38A35"/>
                </a:solidFill>
                <a:latin typeface="Consolas"/>
              </a:rPr>
              <a:t>aiInput('the Name field in the product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38A35"/>
                </a:solidFill>
                <a:latin typeface="Consolas"/>
              </a:rPr>
              <a:t>  dialog', {value:'Energy Drink 250ml'})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38A35"/>
                </a:solidFill>
                <a:latin typeface="Consolas"/>
              </a:rPr>
              <a:t>aiNumber('how many product rows does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38A35"/>
                </a:solidFill>
                <a:latin typeface="Consolas"/>
              </a:rPr>
              <a:t>  the table contain?')  // ==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3484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VLM đọc screenshot và thao tác theo ngữ nghĩa thị giác → về nguyên tắc miễn nhiễm với thay đổi trình bày.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4472C4"/>
                </a:solidFill>
                <a:latin typeface="Calibri"/>
              </a:rPr>
              <a:t>Câu hỏi thực tiễn chưa có lời đáp định lượng: bền vững hơn BAO NHIÊU — đổi bằng GÌ (thời gian, tiền, độ ổn định)?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Khoảng trống nghiên cứu (khảo sát 15 công trình 2023–2025)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①  Chưa có so sánh đối chứng locator-based vs VLM-based trên CÙNG bộ test case, với biến thể giao diện được kiểm soát chủ động — các bài chỉ đo coverage / số bug.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②  Chưa ai đo trực tiếp chi phí bảo trì bộ test (số test / số dòng phải sửa) theo cặp trên cùng một ứng dụng — mới chỉ có chi phí vận hành agent.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③  Khía cạnh bảo mật bỏ ngỏ: (a) PII trên screenshot gửi lên VLM API bên thứ ba; (b) dùng chính VLM kiểm thử phân quyền hiển thị (role-based UI).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949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Robustness trước thay đổi giao diện chính là LÝ DO VLM được đề xuất — nhưng chưa từng được đo đối chứng.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Bốn câu hỏi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472C4"/>
                </a:solidFill>
                <a:latin typeface="Calibri"/>
              </a:rPr>
              <a:t>RQ1 — Độ bền vững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141732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Tỉ lệ pass thay đổi thế nào khi giao diện đổi theme / bố cục / biểu tượng?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14173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← gap 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472C4"/>
                </a:solidFill>
                <a:latin typeface="Calibri"/>
              </a:rPr>
              <a:t>RQ2 — Chi phí bảo trì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65176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Số test phải sửa, diff LOC, thời gian phục hồi của hai phương pháp?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26517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← gap 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862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472C4"/>
                </a:solidFill>
                <a:latin typeface="Calibri"/>
              </a:rPr>
              <a:t>RQ3 — Phân quyền hiển thị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88620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VLM phát hiện lỗi role-based UI chính xác ra sao so với locator?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80" y="388620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← gap 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206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472C4"/>
                </a:solidFill>
                <a:latin typeface="Calibri"/>
              </a:rPr>
              <a:t>RQ4 — Che dữ liệu nhạy cảm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512064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Masking PII trên screenshot ảnh hưởng gì đến độ chính xác định vị?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512064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← gap 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Thiết kế thực nghiệm: so sánh đối chứng, đối xứng tuyệt đối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554480"/>
            <a:ext cx="2084831" cy="1143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App “Mini Shop Manager”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+ 4 biến thể V0–V3</a:t>
            </a:r>
          </a:p>
        </p:txBody>
      </p:sp>
      <p:sp>
        <p:nvSpPr>
          <p:cNvPr id="5" name="Rectangle 4"/>
          <p:cNvSpPr/>
          <p:nvPr/>
        </p:nvSpPr>
        <p:spPr>
          <a:xfrm>
            <a:off x="2807208" y="1554480"/>
            <a:ext cx="2084831" cy="1143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 bộ test song song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18 test × 2, ánh xạ 1–1</a:t>
            </a:r>
          </a:p>
        </p:txBody>
      </p:sp>
      <p:sp>
        <p:nvSpPr>
          <p:cNvPr id="6" name="Rectangle 5"/>
          <p:cNvSpPr/>
          <p:nvPr/>
        </p:nvSpPr>
        <p:spPr>
          <a:xfrm>
            <a:off x="5202936" y="1554480"/>
            <a:ext cx="2084831" cy="1143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Harness ma trận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2 pp × 4 biến thể × 5 lặp</a:t>
            </a:r>
          </a:p>
        </p:txBody>
      </p:sp>
      <p:sp>
        <p:nvSpPr>
          <p:cNvPr id="7" name="Rectangle 6"/>
          <p:cNvSpPr/>
          <p:nvPr/>
        </p:nvSpPr>
        <p:spPr>
          <a:xfrm>
            <a:off x="7598664" y="1554480"/>
            <a:ext cx="2084831" cy="1143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CSV tự động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pass/time/token/$</a:t>
            </a:r>
          </a:p>
        </p:txBody>
      </p:sp>
      <p:sp>
        <p:nvSpPr>
          <p:cNvPr id="8" name="Rectangle 7"/>
          <p:cNvSpPr/>
          <p:nvPr/>
        </p:nvSpPr>
        <p:spPr>
          <a:xfrm>
            <a:off x="9994392" y="1554480"/>
            <a:ext cx="2084831" cy="1143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Phân tích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1 lệnh sinh mọi hình/bảng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11155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Đối xứng: cùng app, cùng 18 kịch bản, cùng viewport 1280×1100, cùng điều kiện chạy — khác duy nhất cách diễn đạt test.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Model ghim: qwen/qwen3-vl-235b-a22b-instruct (OpenRouter) · temperature = 0 · cache TẮT · phiên bản khóa lockfile.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Hai khối mở rộng: RBAC 8 kịch bản × build sạch/cấy lỗi (RQ3) · grounding benchmark 360 call trên ảnh mask (RQ4).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Mọi số liệu ghi tự động vào CSV; toàn bộ repo + số liệu công khai GitHub.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4 biến thể giao diện có kiểm soát — chỉ đổi trình bày, không đổi logic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2926080" cy="22379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20439" y="201168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472C4"/>
                </a:solidFill>
                <a:latin typeface="Calibri"/>
              </a:rPr>
              <a:t>V0 — gốc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88720"/>
            <a:ext cx="2926080" cy="22379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72600" y="201168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472C4"/>
                </a:solidFill>
                <a:latin typeface="Calibri"/>
              </a:rPr>
              <a:t>V1 — dark theme (đổi màu)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77639"/>
            <a:ext cx="2926080" cy="23728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20439" y="48006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V2 — topbar + đảo cột/icon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977639"/>
            <a:ext cx="2926080" cy="22379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72600" y="48006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V3 — đổi icon + nhãn nút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Cấu hình tập trung 1 file (variants.ts) — phủ 3 nguyên nhân gãy test kinh điển: đổi màu / đổi cấu trúc DOM / đổi nhãn.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RQ1 — Độ bền vững khi giao diện thay đổi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4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18 test × 5 lặp / biến thể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234440"/>
            <a:ext cx="6766560" cy="40599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4472C4"/>
                </a:solidFill>
                <a:latin typeface="Calibri"/>
              </a:rPr>
              <a:t>VLM: 18/18 trên CẢ 4 biến thể — Locator: rơi còn 9/18 (V2), 12/18 (V3)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Flakiness = 0 ở cả hai phương pháp (kết quả giống hệt qua 5 lần lặp, temperature = 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Giá phải trả: thời gian và chi phí vận hành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280160"/>
            <a:ext cx="9052560" cy="39960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5778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ED7D31"/>
                </a:solidFill>
                <a:latin typeface="Calibri"/>
              </a:rPr>
              <a:t>VLM ~7–10 phút &amp; $0.05/run   —   Locator ~3 giây &amp; $0/run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Khác biệt thật nằm ở THỜI GIAN, không phải tiền: toàn bộ thực nghiệm hết ≈ $1.5 / ngân sách $50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RQ2 — Chi phí bảo trì khi nâng cấp giao diện V0 → Vx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10607040" cy="325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5778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4472C4"/>
                </a:solidFill>
                <a:latin typeface="Calibri"/>
              </a:rPr>
              <a:t>Locator: 15 test / 46 LOC / 314 giây phục hồi  —  VLM: 0 / 0 /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Quy trình sửa chuẩn hóa tự động, đo 2 lần độc lập: nội dung sửa trùng khớp từng dòng (tái lập được)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RQ3 — Phát hiện lỗi phân quyền hiển thị (role-based UI)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35655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5778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538A35"/>
                </a:solidFill>
                <a:latin typeface="Calibri"/>
              </a:rPr>
              <a:t>Cả hai phương pháp: phát hiện 5/5 lỗi cấy — 0 báo động giả (×5 lặp)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VLM RBAC chỉ ~$0.005/run; kịch bản ngôn ngữ tự nhiên kế thừa luôn độ bền vững của RQ1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RQ4 — Che PII trước khi gửi VLM API: có mất độ chính xác?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863840" cy="3145536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234440"/>
            <a:ext cx="2331720" cy="2003821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3291840"/>
            <a:ext cx="2331720" cy="20038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532180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Trang PII: gốc (trên) / pixelate (dưới)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235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4472C4"/>
                </a:solidFill>
                <a:latin typeface="Calibri"/>
              </a:rPr>
              <a:t>Hit-rate 100% ở CẢ 3 điều kiện — IoU chỉ giảm nhẹ tại đúng vùng 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093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360 lượt gọi (40 phần tử × 3 điều kiện × 3 lặp), kết quả tất định; màn không mask giữ nguyên (đối chứng)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Trade-off trung tâm và hàm ý thực tiễn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12080" cy="502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Locator (Playwright)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59" y="1371600"/>
            <a:ext cx="521208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VLM (Midscene + Qwen3-VL)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Chạy ~3 giây, $0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Gãy 33–50% suite khi đổi bố cục/nhãn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Phục hồi cần sửa tay: 15 test / 46 LOC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Trả chi phí MỘT LẦN — khi giao diện đổi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201168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Chạy ~8 phút, $0.05/run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100% pass trên mọi biến thể trình bày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0 chi phí bảo trì, 0 flakiness (temp 0)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Trả chi phí MỖI LẦN CHẠY — thời gian +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4472C4"/>
                </a:solidFill>
                <a:latin typeface="Calibri"/>
              </a:rPr>
              <a:t>→ Bổ trợ, không thay thế nhau: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CI hai tầng — locator chạy mỗi commit trên giao diện ổn định; VLM làm lớp regression “theo ý định” chạy theo lịch / trước release / giai đoạn giao diện biến động.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Năm đóng góp (đúng cam kết đề cương)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685800" cy="685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17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Bộ dữ liệu thực nghiệm tái sử dụng: app + 4 biến thể kiểm soát tập trung (benchmark robustness)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04288"/>
            <a:ext cx="685800" cy="685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5000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Pipeline đánh giá 3 trục: harness ma trận + giao thức bảo trì chuẩn hóa + script sinh toàn bộ hình/bảng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36976"/>
            <a:ext cx="685800" cy="685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282696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Bộ số liệu đối chứng đầu tiên (trong phạm vi khảo sát) đo trade-off robustness vs cost trên cùng test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69664"/>
            <a:ext cx="685800" cy="685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215384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Cơ chế masking PII + đánh giá định lượng trade-off bảo mật ↔ độ chính xác định vị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102352"/>
            <a:ext cx="685800" cy="685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5148072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Bộ kịch bản kiểm thử phân quyền hiển thị bằng VLM, đối chứng với locator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Toàn bộ mã nguồn + số liệu công khai: github.com/phanthanh379/doanai — tái lập mọi hình/bảng bằng 1 lệnh.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Hạn chế và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00000"/>
                </a:solidFill>
                <a:latin typeface="Calibri"/>
              </a:rPr>
              <a:t>Hạn chế (khai báo tường minh)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1 app mẫu, 1 model, biến thể một chiều có kiểm soát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Nhận thức VLM giới hạn trong viewport (1280×1100)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Baseline chủ ý dùng selector giòn (worst-case)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Thời gian bảo trì đo trên quy trình agent, không phải công người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38A35"/>
                </a:solidFill>
                <a:latin typeface="Calibri"/>
              </a:rPr>
              <a:t>Hướng phát triển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874519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Desktop (WinAppDriver) / mobile; trang dài hơn viewport (cuộn + tổng hợp)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Thêm model đối chiếu (UI-TARS, self-host) + baseline best-practice (getByRole)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Masking tự động (OCR/VLM phát hiện PII); mở rộng lớp lỗi phân quyền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CI hai tầng có kiểm soát chi phí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Calibri"/>
              </a:rPr>
              <a:t>Kiểm thử GUI bằng VLM loại bỏ tính giòn trước thay đổi trình bày —</a:t>
            </a:r>
          </a:p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Calibri"/>
              </a:rPr>
              <a:t>100% pass trên mọi biến thể, 0 chi phí bảo trì —</a:t>
            </a:r>
          </a:p>
          <a:p>
            <a:pPr algn="ctr">
              <a:spcAft>
                <a:spcPts val="600"/>
              </a:spcAft>
            </a:pPr>
            <a:r>
              <a:rPr sz="2400" b="1">
                <a:solidFill>
                  <a:srgbClr val="4472C4"/>
                </a:solidFill>
                <a:latin typeface="Calibri"/>
              </a:rPr>
              <a:t>trả giá bằng thời gian chạy, không phải tiền hay độ ổn định.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463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Em xin cảm ơn hội đồng — sẵn sàng demo và trả lời câu hỏi.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9260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595959"/>
                </a:solidFill>
                <a:latin typeface="Calibri"/>
              </a:rPr>
              <a:t>Slide dự phòng (Q&amp;A)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B1 — VLM perception là viewport-bound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4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Triệu chứng: aiNumber đếm 9/12 dòng — giống hệt qua mọi lần lặp (deterministic, không phải flaky).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Nguyên nhân: viewport 1280×800 chỉ hiện 9/12 dòng bảng; VLM đếm những gì NÓ THẤY trong screenshot — locator đếm DOM toàn trang.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Xử lý: viewport 1280×1100 cho CẢ HAI suite (giữ đối xứng); phương án “cuộn rồi đếm” bị loại (cuộn làm mất dòng đầu).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Hệ quả: viewport là biến nhiễu phải cố định + báo cáo; kết quả VLM không khái quát sang trang dài hơn viewport nếu thiếu cơ chế cuộn-tổng hợp.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B2 — Quy ước tọa độ grounding của Qwen (0–1000)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4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Attempt 1 của RQ4: 340/360 lượt bị chấm “lỗi” → chẩn đoán: VLM định vị ĐÚNG, harness chấm SAI chuẩn tọa độ.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Qwen3-VL luôn trả tọa độ chuẩn hóa 0–1000 bất kể prompt yêu cầu pixel; bằng chứng: box × (1280/1000, 800/1000) trùng ground-truth gần tuyệt đối.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Sửa: prompt theo quy ước gốc của model, harness quy đổi; lưu raw answer (raw-calls.jsonl) để audit; attempt sai giữ làm tư liệu.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Bài học: quy ước của model THẮNG chỉ dẫn trong prompt; phải tách “lỗi model” khỏi “lỗi harness” trước khi kết luận.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B3 — Vì sao Qwen3-VL, không phải GPT-4o/Claude?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4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Đề cương ghi “Claude, GPT-4o hoặc tương đương” — khảo sát pilot (GĐ1) cho thấy: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GPT-4o: docs Midscene ghi rõ “perform poorly” ở UI localization — chỉ hợp vai planning.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Claude: không nằm trong danh sách model Midscene hỗ trợ.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Qwen3-VL: nhóm khuyến nghị mặc định về visual grounding; giá $0.20/$0.88 per 1M (rẻ ~10× GPT-4o input); open-weight → nhất quán phương án self-host khi cần bảo mật.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Ghim snapshot 235B-A22B instruct suốt thực nghiệm; fallback: UI-TARS, Qwen2.5-VL.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B4 — Giao thức đo RQ2 (vì sao agent thay vì người bấm giờ?)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4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Chỉ dẫn cố định: “sửa tối thiểu để pass lại; chỉ đổi selector/assertion; không refactor; cấm đọc tài liệu kết quả”; mốc T0 → T1 (có danh sách fail) → T2 (18/18).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Mục đích gốc của “cùng một người sửa” là chống thiên lệch giữa 2 bộ — agent cố định thỏa mãn TỐT HƠN: không mệt, không học lỏm, tái lập được.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Kiểm chứng: 2 lần chạy độc lập (agent mới, không ngữ cảnh) → diff trùng khớp TỪNG DÒNG với nhau (9 test/24 LOC ở V2, 6 test/22 LOC ở V3).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2 chỉ số chính (test sửa, diff LOC) bất biến theo người sửa; chỉ số thời gian khai báo hạn chế trong Threats to Validity.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B5 — Baseline có “cố tình yếu” không?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4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Lựa chọn thiết kế có chủ ý, khai báo tường minh: baseline đại diện lớp test giòn phổ biến (worst-case của locator).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Nhóm D (icon SVG không aria-label, canvas, div thuần) KHÔNG có lựa chọn ngoài selector cấu trúc — getByRole không cứu được.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getByRole/data-testid giảm rủi ro ở V3 (nhãn) nhưng: data-testid đòi quyền sửa app; và không đổi bản chất kết luận nhóm D.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Hướng phát triển đã ghi: thêm baseline best-practice làm mốc “trường hợp tốt” để kẹp khoảng kết quả.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B6 — Chi phí chi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4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RQ1 (suite chính): ~93 AI call/run, ~232k token, $0.050/run — 20 run chính thức ≈ $1.0.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RQ3 (RBAC): 11 call/run, $0.0052/run × 20 run ≈ $0.1.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RQ4 (grounding): 360 call = $0.112.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Tổng toàn thực nghiệm ≈ $1.5 / ngân sách $50 (3%). Giá ghim: $0.20/M in + $0.88/M out.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Token đọc THẬT từ log Midscene từng run (không ước lượng công thức) — cột run_prompt_tokens/run_cost_usd trong 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